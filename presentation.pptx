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32" r:id="rId2"/>
    <p:sldId id="348" r:id="rId3"/>
    <p:sldId id="349" r:id="rId4"/>
    <p:sldId id="350" r:id="rId5"/>
    <p:sldId id="351" r:id="rId6"/>
    <p:sldId id="354" r:id="rId7"/>
    <p:sldId id="352" r:id="rId8"/>
    <p:sldId id="356" r:id="rId9"/>
    <p:sldId id="355" r:id="rId10"/>
    <p:sldId id="353" r:id="rId11"/>
    <p:sldId id="358" r:id="rId12"/>
    <p:sldId id="35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867" y="2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02C23-B3A9-46E1-A743-12A442BD45EF}" type="datetimeFigureOut">
              <a:rPr lang="zh-TW" altLang="en-US" smtClean="0"/>
              <a:t>2026/4/13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248A9-B61D-41C6-9846-DF346FF6E6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749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67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37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375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37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237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BF52-51CA-146A-A74B-4ED9863D7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1E5B6-08F7-850B-7674-CBE17692D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A9651-1289-72B3-92CC-2203AFA253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0D894-5134-60F9-B52E-08CF27901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58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FB778-D882-1E81-7DD3-A78676886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8C2323-1B4D-FA47-E3E6-8D5DA91D5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15619A-E81B-AB4D-57AE-A30C0F891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9D3A0-21B4-D1DF-39BC-4E3E0A23F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0237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82EF1-332E-0565-D683-4483EDA8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7FE549-EF3D-F689-83B2-598EFE89CD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6AB53B-E3B9-3655-8E17-A774D52BE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B16A9-FC0F-158D-3066-BD695A98F7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875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707FC-00B3-8B62-A972-CA63A7C4C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FF8E6E-6C5B-FA02-A77C-AA46376491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EC4E7-739B-D306-3970-C631BD30B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DFD7D-8CA1-6BD8-FB7E-7F6FBB093D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7307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DF483-91E1-28D6-5AD6-3C5AD858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27B342-DA2E-70E4-55AF-A9CDFCD99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89E85-CAEB-4CB3-DF79-B85E89E823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26B9D-B2BB-D4D2-CEF9-E0DEB938D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138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841C5-32EC-F4A5-BFED-CB23FAFA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7A06F7-2311-448A-78A9-BCE9683A3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67A4B-E5DC-5578-44AD-467738AF4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86C66-5659-A9B0-7396-844BF280E8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5864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044AF-F680-7C6E-2A05-4CB598E2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872AF-7EFC-09CA-49F4-D4FF93463E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F37EB6-E96A-E463-8B60-20A6E2A39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39A9F-86B4-63B2-8C57-B1BEBD339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DB437F-59FE-4A6C-A802-8DC82142699A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83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Text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7A8EDF12-1C19-E62E-94E0-8974D4130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Text-only slide click to add heading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416243F-3EBA-00D8-66EB-F15C43FE4D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54567" y="1153867"/>
            <a:ext cx="9048751" cy="3956051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  <a:latin typeface="Georgia" panose="02040502050405020303" pitchFamily="18" charset="0"/>
                <a:cs typeface="Roboto Serif 20pt" pitchFamily="2" charset="77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064302-3E98-D08D-CD67-78E1B772D4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867546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ver with Image 1 - Dark Blu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E1A2E5-5BB9-B368-9B47-19F102B001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412" y="3752821"/>
            <a:ext cx="4484725" cy="9750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Title 13">
            <a:extLst>
              <a:ext uri="{FF2B5EF4-FFF2-40B4-BE49-F238E27FC236}">
                <a16:creationId xmlns:a16="http://schemas.microsoft.com/office/drawing/2014/main" id="{1FE1432D-80F7-39A3-2A49-5A67749798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412" y="1555110"/>
            <a:ext cx="6005899" cy="2587689"/>
          </a:xfrm>
        </p:spPr>
        <p:txBody>
          <a:bodyPr/>
          <a:lstStyle/>
          <a:p>
            <a:r>
              <a:rPr lang="en-GB" dirty="0"/>
              <a:t>Click to add</a:t>
            </a:r>
            <a:br>
              <a:rPr lang="en-GB" dirty="0"/>
            </a:br>
            <a:r>
              <a:rPr lang="en-GB" dirty="0"/>
              <a:t>title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A721DE-5D37-9BCC-D371-574C6E5659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17503" y="0"/>
            <a:ext cx="8874497" cy="6858000"/>
          </a:xfrm>
          <a:custGeom>
            <a:avLst/>
            <a:gdLst>
              <a:gd name="connsiteX0" fmla="*/ 6654625 w 6655873"/>
              <a:gd name="connsiteY0" fmla="*/ 0 h 5143500"/>
              <a:gd name="connsiteX1" fmla="*/ 6655873 w 6655873"/>
              <a:gd name="connsiteY1" fmla="*/ 0 h 5143500"/>
              <a:gd name="connsiteX2" fmla="*/ 6655873 w 6655873"/>
              <a:gd name="connsiteY2" fmla="*/ 5143500 h 5143500"/>
              <a:gd name="connsiteX3" fmla="*/ 0 w 6655873"/>
              <a:gd name="connsiteY3" fmla="*/ 5139956 h 5143500"/>
              <a:gd name="connsiteX4" fmla="*/ 4195676 w 6655873"/>
              <a:gd name="connsiteY4" fmla="*/ 1964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55873" h="5143500">
                <a:moveTo>
                  <a:pt x="6654625" y="0"/>
                </a:moveTo>
                <a:lnTo>
                  <a:pt x="6655873" y="0"/>
                </a:lnTo>
                <a:lnTo>
                  <a:pt x="6655873" y="5143500"/>
                </a:lnTo>
                <a:lnTo>
                  <a:pt x="0" y="5139956"/>
                </a:lnTo>
                <a:lnTo>
                  <a:pt x="4195676" y="1964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94352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0751E2-9888-EDC7-0631-E42B85F2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570" y="1016682"/>
            <a:ext cx="11483577" cy="1916825"/>
          </a:xfrm>
        </p:spPr>
        <p:txBody>
          <a:bodyPr>
            <a:noAutofit/>
          </a:bodyPr>
          <a:lstStyle/>
          <a:p>
            <a:pPr algn="l"/>
            <a:r>
              <a:rPr lang="en-US" sz="3733" b="1" dirty="0">
                <a:solidFill>
                  <a:schemeClr val="bg1"/>
                </a:solidFill>
              </a:rPr>
              <a:t>Evaluating Demographic Bias</a:t>
            </a:r>
            <a:br>
              <a:rPr lang="en-US" sz="3733" b="1" dirty="0">
                <a:solidFill>
                  <a:schemeClr val="bg1"/>
                </a:solidFill>
              </a:rPr>
            </a:br>
            <a:r>
              <a:rPr lang="en-US" sz="3733" b="1" dirty="0">
                <a:solidFill>
                  <a:schemeClr val="bg1"/>
                </a:solidFill>
              </a:rPr>
              <a:t>in Open-Source LLMs for Phishing Susceptibility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EFA513C-B966-FA9D-ECA0-26AF66BA1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1001" y="2617114"/>
            <a:ext cx="246286" cy="861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pPr defTabSz="121917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2400">
                <a:latin typeface="Arial" panose="020B0604020202020204" pitchFamily="34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5AFCDDD-A48C-D25B-C85B-52E07854046A}"/>
              </a:ext>
            </a:extLst>
          </p:cNvPr>
          <p:cNvGraphicFramePr>
            <a:graphicFrameLocks noGrp="1"/>
          </p:cNvGraphicFramePr>
          <p:nvPr/>
        </p:nvGraphicFramePr>
        <p:xfrm>
          <a:off x="408069" y="4581479"/>
          <a:ext cx="8624783" cy="934720"/>
        </p:xfrm>
        <a:graphic>
          <a:graphicData uri="http://schemas.openxmlformats.org/drawingml/2006/table">
            <a:tbl>
              <a:tblPr/>
              <a:tblGrid>
                <a:gridCol w="8624783">
                  <a:extLst>
                    <a:ext uri="{9D8B030D-6E8A-4147-A177-3AD203B41FA5}">
                      <a16:colId xmlns:a16="http://schemas.microsoft.com/office/drawing/2014/main" val="1445361459"/>
                    </a:ext>
                  </a:extLst>
                </a:gridCol>
              </a:tblGrid>
              <a:tr h="93472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53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21920" marR="121920" marT="60960" marB="6096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752235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22CE8D-CDF9-450E-9D00-15021231FB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6570" y="4093949"/>
            <a:ext cx="4484725" cy="975059"/>
          </a:xfrm>
        </p:spPr>
        <p:txBody>
          <a:bodyPr>
            <a:normAutofit fontScale="92500" lnSpcReduction="20000"/>
          </a:bodyPr>
          <a:lstStyle/>
          <a:p>
            <a:r>
              <a:rPr lang="en-A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Yu-Hsuan Tseng</a:t>
            </a:r>
          </a:p>
          <a:p>
            <a:r>
              <a:rPr lang="en-AU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Student ID: a1875209</a:t>
            </a:r>
          </a:p>
        </p:txBody>
      </p:sp>
      <p:pic>
        <p:nvPicPr>
          <p:cNvPr id="26" name="音訊 25">
            <a:hlinkClick r:id="" action="ppaction://media"/>
            <a:extLst>
              <a:ext uri="{FF2B5EF4-FFF2-40B4-BE49-F238E27FC236}">
                <a16:creationId xmlns:a16="http://schemas.microsoft.com/office/drawing/2014/main" id="{5D633F46-C6AC-2E4C-6E9C-69F80B353B9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8379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426"/>
    </mc:Choice>
    <mc:Fallback xmlns="">
      <p:transition spd="slow" advTm="464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6633-43C0-FB0E-F169-A06E15C8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F413-E8E4-B19D-83D6-06330F0549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564464-52C3-B52A-7F9E-3039A1D02ADB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Are LLMs Biased in Phishing Assessment?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6D57E-ED52-90A6-DD4D-F70CEC08C22C}"/>
              </a:ext>
            </a:extLst>
          </p:cNvPr>
          <p:cNvSpPr txBox="1"/>
          <p:nvPr/>
        </p:nvSpPr>
        <p:spPr>
          <a:xfrm>
            <a:off x="18288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800" b="1">
                <a:solidFill>
                  <a:srgbClr val="FF6B6B"/>
                </a:solidFill>
              </a:defRPr>
            </a:pPr>
            <a:r>
              <a:rPr dirty="0"/>
              <a:t>69.3%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2E6E26D-95F6-E323-158B-4DA62632C40F}"/>
              </a:ext>
            </a:extLst>
          </p:cNvPr>
          <p:cNvSpPr txBox="1"/>
          <p:nvPr/>
        </p:nvSpPr>
        <p:spPr>
          <a:xfrm>
            <a:off x="1828800" y="3200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Non-binary personas selected as phishing-vulnerable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E2693DE7-4C8B-B03C-4AF8-4A83130EC2AD}"/>
              </a:ext>
            </a:extLst>
          </p:cNvPr>
          <p:cNvSpPr txBox="1"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D43B"/>
                </a:solidFill>
              </a:defRPr>
            </a:pPr>
            <a:r>
              <a:t>Expected: 33.3%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C82F5024-5E92-EA59-CD4F-A032AD21F729}"/>
              </a:ext>
            </a:extLst>
          </p:cNvPr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0D2FF"/>
                </a:solidFill>
              </a:defRPr>
            </a:pPr>
            <a:r>
              <a:t>Do LLMs show systematic demographic bias</a:t>
            </a:r>
            <a:br/>
            <a:r>
              <a:t>when assessing phishing vulnerability?</a:t>
            </a:r>
          </a:p>
        </p:txBody>
      </p:sp>
    </p:spTree>
    <p:extLst>
      <p:ext uri="{BB962C8B-B14F-4D97-AF65-F5344CB8AC3E}">
        <p14:creationId xmlns:p14="http://schemas.microsoft.com/office/powerpoint/2010/main" val="1837550308"/>
      </p:ext>
    </p:extLst>
  </p:cSld>
  <p:clrMapOvr>
    <a:masterClrMapping/>
  </p:clrMapOvr>
  <p:transition advTm="42389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6633-43C0-FB0E-F169-A06E15C8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F413-E8E4-B19D-83D6-06330F0549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63767D-43B7-3BB6-F55A-D333B17271BA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Two-Stage Persona-Based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856EE-CE4E-4674-D3B6-00666E07B1B6}"/>
              </a:ext>
            </a:extLst>
          </p:cNvPr>
          <p:cNvSpPr txBox="1"/>
          <p:nvPr/>
        </p:nvSpPr>
        <p:spPr>
          <a:xfrm>
            <a:off x="1097280" y="164592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43B"/>
                </a:solidFill>
              </a:defRPr>
            </a:pPr>
            <a:r>
              <a:rPr sz="3200" dirty="0"/>
              <a:t>Stage 1: Generate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ADEED272-5047-C7C0-C7D1-27CFB517A445}"/>
              </a:ext>
            </a:extLst>
          </p:cNvPr>
          <p:cNvSpPr txBox="1"/>
          <p:nvPr/>
        </p:nvSpPr>
        <p:spPr>
          <a:xfrm>
            <a:off x="1097280" y="2286000"/>
            <a:ext cx="45720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endParaRPr sz="2800"/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LLM creates 3 diverse personas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400"/>
              <a:t>Enforced demographic diversity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400"/>
              <a:t>Age, Gender, Education, Domain...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74885F36-74A5-AC30-A7AD-A8AA84CF379B}"/>
              </a:ext>
            </a:extLst>
          </p:cNvPr>
          <p:cNvSpPr txBox="1"/>
          <p:nvPr/>
        </p:nvSpPr>
        <p:spPr>
          <a:xfrm>
            <a:off x="6400800" y="164592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D43B"/>
                </a:solidFill>
              </a:defRPr>
            </a:pPr>
            <a:r>
              <a:rPr sz="3200"/>
              <a:t>Stage 2: Select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FB88A6D-525B-6E8B-1892-38357B42BA5B}"/>
              </a:ext>
            </a:extLst>
          </p:cNvPr>
          <p:cNvSpPr txBox="1"/>
          <p:nvPr/>
        </p:nvSpPr>
        <p:spPr>
          <a:xfrm>
            <a:off x="6400800" y="2286000"/>
            <a:ext cx="5029200" cy="2354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endParaRPr sz="2800"/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Which persona is most vulnerable?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400"/>
              <a:t>Must explain reasoning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400"/>
              <a:t>Forced choice reveals implicit bias</a:t>
            </a:r>
          </a:p>
        </p:txBody>
      </p:sp>
    </p:spTree>
    <p:extLst>
      <p:ext uri="{BB962C8B-B14F-4D97-AF65-F5344CB8AC3E}">
        <p14:creationId xmlns:p14="http://schemas.microsoft.com/office/powerpoint/2010/main" val="4024814436"/>
      </p:ext>
    </p:extLst>
  </p:cSld>
  <p:clrMapOvr>
    <a:masterClrMapping/>
  </p:clrMapOvr>
  <p:transition advTm="42389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6633-43C0-FB0E-F169-A06E15C8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F413-E8E4-B19D-83D6-06330F0549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9F04D4-B854-FFC6-8EA9-571B52B89634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Experimental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A795F1-BE2C-D9E6-E949-580DACB55B39}"/>
              </a:ext>
            </a:extLst>
          </p:cNvPr>
          <p:cNvSpPr txBox="1"/>
          <p:nvPr/>
        </p:nvSpPr>
        <p:spPr>
          <a:xfrm>
            <a:off x="1371600" y="1459230"/>
            <a:ext cx="9144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</a:defRPr>
            </a:pPr>
            <a:r>
              <a:rPr sz="3200" dirty="0"/>
              <a:t>3 personas per run → forced-choice scenario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1000" dirty="0"/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</a:defRPr>
            </a:pPr>
            <a:r>
              <a:rPr sz="3200" dirty="0"/>
              <a:t>20-25 runs per model → statistical stability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1000" dirty="0"/>
          </a:p>
          <a:p>
            <a:pPr>
              <a:spcBef>
                <a:spcPts val="600"/>
              </a:spcBef>
              <a:defRPr sz="2400" b="1">
                <a:solidFill>
                  <a:srgbClr val="FFFFFF"/>
                </a:solidFill>
              </a:defRPr>
            </a:pPr>
            <a:r>
              <a:rPr sz="3200" dirty="0"/>
              <a:t>Temperature = 0.7 → diversity vs coherence balance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1000" dirty="0"/>
          </a:p>
          <a:p>
            <a:pPr>
              <a:spcBef>
                <a:spcPts val="600"/>
              </a:spcBef>
              <a:defRPr sz="2000" b="0">
                <a:solidFill>
                  <a:srgbClr val="AAAAAA"/>
                </a:solidFill>
              </a:defRPr>
            </a:pPr>
            <a:r>
              <a:rPr sz="2800" dirty="0"/>
              <a:t>Multi-turn prompting (context preserved)</a:t>
            </a:r>
          </a:p>
          <a:p>
            <a:pPr>
              <a:spcBef>
                <a:spcPts val="600"/>
              </a:spcBef>
              <a:defRPr sz="2000" b="0">
                <a:solidFill>
                  <a:srgbClr val="AAAAAA"/>
                </a:solidFill>
              </a:defRPr>
            </a:pPr>
            <a:r>
              <a:rPr sz="2800" dirty="0"/>
              <a:t>Deterministic parsing (Mistral Small, temp=0)</a:t>
            </a:r>
          </a:p>
          <a:p>
            <a:pPr>
              <a:spcBef>
                <a:spcPts val="600"/>
              </a:spcBef>
              <a:defRPr sz="2000" b="0">
                <a:solidFill>
                  <a:srgbClr val="AAAAAA"/>
                </a:solidFill>
              </a:defRPr>
            </a:pPr>
            <a:r>
              <a:rPr sz="2800" dirty="0"/>
              <a:t>Resume-capable pipeline with retry logic</a:t>
            </a:r>
          </a:p>
        </p:txBody>
      </p:sp>
    </p:spTree>
    <p:extLst>
      <p:ext uri="{BB962C8B-B14F-4D97-AF65-F5344CB8AC3E}">
        <p14:creationId xmlns:p14="http://schemas.microsoft.com/office/powerpoint/2010/main" val="2006282506"/>
      </p:ext>
    </p:extLst>
  </p:cSld>
  <p:clrMapOvr>
    <a:masterClrMapping/>
  </p:clrMapOvr>
  <p:transition advTm="42389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D6633-43C0-FB0E-F169-A06E15C8F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0F413-E8E4-B19D-83D6-06330F0549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65D886-B79A-272F-7969-E464C6E2226C}"/>
              </a:ext>
            </a:extLst>
          </p:cNvPr>
          <p:cNvSpPr txBox="1"/>
          <p:nvPr/>
        </p:nvSpPr>
        <p:spPr>
          <a:xfrm>
            <a:off x="76200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14 Models  ×  5 Providers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9096D1-8ABB-CBF0-3777-155FD18D2AB6}"/>
              </a:ext>
            </a:extLst>
          </p:cNvPr>
          <p:cNvSpPr txBox="1"/>
          <p:nvPr/>
        </p:nvSpPr>
        <p:spPr>
          <a:xfrm>
            <a:off x="1402080" y="164592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43B"/>
                </a:solidFill>
              </a:defRPr>
            </a:pPr>
            <a:r>
              <a:rPr sz="2400"/>
              <a:t>Groq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E20E29D-5AD6-5F1F-4CE2-F304B3A771CF}"/>
              </a:ext>
            </a:extLst>
          </p:cNvPr>
          <p:cNvSpPr txBox="1"/>
          <p:nvPr/>
        </p:nvSpPr>
        <p:spPr>
          <a:xfrm>
            <a:off x="3840480" y="164592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2000"/>
              <a:t>Llama 3.1 8B  |  Llama 3.3 70B  |  Llama 4 Scout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BDC8025-B6F9-4FFD-EDD2-9F205220FB24}"/>
              </a:ext>
            </a:extLst>
          </p:cNvPr>
          <p:cNvSpPr txBox="1"/>
          <p:nvPr/>
        </p:nvSpPr>
        <p:spPr>
          <a:xfrm>
            <a:off x="10058400" y="164592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25 each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24DF6169-A811-1252-9820-0180BF946C6A}"/>
              </a:ext>
            </a:extLst>
          </p:cNvPr>
          <p:cNvSpPr txBox="1"/>
          <p:nvPr/>
        </p:nvSpPr>
        <p:spPr>
          <a:xfrm>
            <a:off x="1402080" y="228600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43B"/>
                </a:solidFill>
              </a:defRPr>
            </a:pPr>
            <a:r>
              <a:rPr sz="2400" dirty="0"/>
              <a:t>Mistral AI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B1308CB1-CE58-5B7F-8E55-1AC524BE81B6}"/>
              </a:ext>
            </a:extLst>
          </p:cNvPr>
          <p:cNvSpPr txBox="1"/>
          <p:nvPr/>
        </p:nvSpPr>
        <p:spPr>
          <a:xfrm>
            <a:off x="3840480" y="22860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2000"/>
              <a:t>Mistral Small  |  Mistral Nemo  |  Ministral 8B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97AA7AB-9C0D-8E20-A597-D5855A4CC0B0}"/>
              </a:ext>
            </a:extLst>
          </p:cNvPr>
          <p:cNvSpPr txBox="1"/>
          <p:nvPr/>
        </p:nvSpPr>
        <p:spPr>
          <a:xfrm>
            <a:off x="10058400" y="228600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25 each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6948767C-7E40-35C2-3CA0-301FC129F988}"/>
              </a:ext>
            </a:extLst>
          </p:cNvPr>
          <p:cNvSpPr txBox="1"/>
          <p:nvPr/>
        </p:nvSpPr>
        <p:spPr>
          <a:xfrm>
            <a:off x="1402080" y="292608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43B"/>
                </a:solidFill>
              </a:defRPr>
            </a:pPr>
            <a:r>
              <a:rPr sz="2400"/>
              <a:t>Google AI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0C58E67D-79F7-D653-2375-0FFD8BE6632C}"/>
              </a:ext>
            </a:extLst>
          </p:cNvPr>
          <p:cNvSpPr txBox="1"/>
          <p:nvPr/>
        </p:nvSpPr>
        <p:spPr>
          <a:xfrm>
            <a:off x="3840480" y="292608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2000"/>
              <a:t>Gemma 3 4B  |  Gemma 3 12B  |  Gemma 3 27B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C7B62112-809D-C2D5-51E2-744E2AC667B1}"/>
              </a:ext>
            </a:extLst>
          </p:cNvPr>
          <p:cNvSpPr txBox="1"/>
          <p:nvPr/>
        </p:nvSpPr>
        <p:spPr>
          <a:xfrm>
            <a:off x="10058400" y="292608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20-24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C8299A8A-77D6-E257-2A85-F8C9438763F9}"/>
              </a:ext>
            </a:extLst>
          </p:cNvPr>
          <p:cNvSpPr txBox="1"/>
          <p:nvPr/>
        </p:nvSpPr>
        <p:spPr>
          <a:xfrm>
            <a:off x="1371600" y="356616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43B"/>
                </a:solidFill>
              </a:defRPr>
            </a:pPr>
            <a:r>
              <a:rPr sz="2400"/>
              <a:t>SambaNova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F8DAE5F0-1A79-11D1-C7B9-FD8165A4B6F8}"/>
              </a:ext>
            </a:extLst>
          </p:cNvPr>
          <p:cNvSpPr txBox="1"/>
          <p:nvPr/>
        </p:nvSpPr>
        <p:spPr>
          <a:xfrm>
            <a:off x="3840480" y="356616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2000" dirty="0"/>
              <a:t>Llama 3.3 70B  |  DeepSeek V3  |  Llama 4 Maverick</a:t>
            </a:r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A7859F0E-B483-930D-7E82-4D9952150D9E}"/>
              </a:ext>
            </a:extLst>
          </p:cNvPr>
          <p:cNvSpPr txBox="1"/>
          <p:nvPr/>
        </p:nvSpPr>
        <p:spPr>
          <a:xfrm>
            <a:off x="10058400" y="356616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7-9*</a:t>
            </a:r>
          </a:p>
        </p:txBody>
      </p:sp>
      <p:sp>
        <p:nvSpPr>
          <p:cNvPr id="16" name="TextBox 14">
            <a:extLst>
              <a:ext uri="{FF2B5EF4-FFF2-40B4-BE49-F238E27FC236}">
                <a16:creationId xmlns:a16="http://schemas.microsoft.com/office/drawing/2014/main" id="{25643E82-470C-B0B6-03B9-58BDD9623D54}"/>
              </a:ext>
            </a:extLst>
          </p:cNvPr>
          <p:cNvSpPr txBox="1"/>
          <p:nvPr/>
        </p:nvSpPr>
        <p:spPr>
          <a:xfrm>
            <a:off x="1371600" y="4206240"/>
            <a:ext cx="228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43B"/>
                </a:solidFill>
              </a:defRPr>
            </a:pPr>
            <a:r>
              <a:rPr sz="2400"/>
              <a:t>Cerebras</a:t>
            </a:r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34A19FA6-E3C2-70C7-C7D0-0A33B4744CB1}"/>
              </a:ext>
            </a:extLst>
          </p:cNvPr>
          <p:cNvSpPr txBox="1"/>
          <p:nvPr/>
        </p:nvSpPr>
        <p:spPr>
          <a:xfrm>
            <a:off x="3840480" y="4206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rPr sz="2000"/>
              <a:t>Llama 3.1 8B  |  Qwen3 235B</a:t>
            </a:r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33653634-363D-C31F-E981-E022F0E871E9}"/>
              </a:ext>
            </a:extLst>
          </p:cNvPr>
          <p:cNvSpPr txBox="1"/>
          <p:nvPr/>
        </p:nvSpPr>
        <p:spPr>
          <a:xfrm>
            <a:off x="10058400" y="420624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</a:defRPr>
            </a:pPr>
            <a:r>
              <a:t>22 each</a:t>
            </a:r>
          </a:p>
        </p:txBody>
      </p:sp>
    </p:spTree>
    <p:extLst>
      <p:ext uri="{BB962C8B-B14F-4D97-AF65-F5344CB8AC3E}">
        <p14:creationId xmlns:p14="http://schemas.microsoft.com/office/powerpoint/2010/main" val="1343325179"/>
      </p:ext>
    </p:extLst>
  </p:cSld>
  <p:clrMapOvr>
    <a:masterClrMapping/>
  </p:clrMapOvr>
  <p:transition advTm="42389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4CD4B-0558-1087-E5D6-20C417F1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0F2C04-E061-B309-5DCB-9CC06F0EA0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7C7E15-5BC6-3D9A-46A9-0AC008D40D95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Dataset: 855 Persona Records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71E055-FCFB-10D0-EA29-C53F42919044}"/>
              </a:ext>
            </a:extLst>
          </p:cNvPr>
          <p:cNvSpPr txBox="1"/>
          <p:nvPr/>
        </p:nvSpPr>
        <p:spPr>
          <a:xfrm>
            <a:off x="1371600" y="1371600"/>
            <a:ext cx="4114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2FF"/>
                </a:solidFill>
              </a:defRPr>
            </a:pPr>
            <a:r>
              <a:rPr sz="2800"/>
              <a:t>285 runs × 3 personas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C81EC358-FAE7-1817-9F64-E93FCD672C2F}"/>
              </a:ext>
            </a:extLst>
          </p:cNvPr>
          <p:cNvSpPr txBox="1"/>
          <p:nvPr/>
        </p:nvSpPr>
        <p:spPr>
          <a:xfrm>
            <a:off x="1371600" y="2103120"/>
            <a:ext cx="4114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endParaRPr sz="2800"/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Female: 391 (45.7%)</a:t>
            </a:r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Male: 277 (32.4%)</a:t>
            </a:r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Non-binary: 163 (19.1%)</a:t>
            </a:r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Mean age: 32.5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68008C9-414E-1E24-764C-0E14A099683C}"/>
              </a:ext>
            </a:extLst>
          </p:cNvPr>
          <p:cNvSpPr txBox="1"/>
          <p:nvPr/>
        </p:nvSpPr>
        <p:spPr>
          <a:xfrm>
            <a:off x="6400800" y="137160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rPr sz="2800"/>
              <a:t>Vulnerable (n=285)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E8921969-7ED9-B549-9818-E052C82EC3A2}"/>
              </a:ext>
            </a:extLst>
          </p:cNvPr>
          <p:cNvSpPr txBox="1"/>
          <p:nvPr/>
        </p:nvSpPr>
        <p:spPr>
          <a:xfrm>
            <a:off x="6400800" y="2103120"/>
            <a:ext cx="457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endParaRPr sz="2800"/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Female: 112 (39.3%)</a:t>
            </a:r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Male: 51 (17.9%)</a:t>
            </a:r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Non-binary: 113 (39.6%)</a:t>
            </a:r>
          </a:p>
          <a:p>
            <a:pPr>
              <a:spcBef>
                <a:spcPts val="600"/>
              </a:spcBef>
              <a:defRPr sz="2000" b="0">
                <a:solidFill>
                  <a:srgbClr val="FFFFFF"/>
                </a:solidFill>
              </a:defRPr>
            </a:pPr>
            <a:r>
              <a:rPr sz="2800"/>
              <a:t>Mean age: 28.7</a:t>
            </a:r>
          </a:p>
        </p:txBody>
      </p:sp>
    </p:spTree>
    <p:extLst>
      <p:ext uri="{BB962C8B-B14F-4D97-AF65-F5344CB8AC3E}">
        <p14:creationId xmlns:p14="http://schemas.microsoft.com/office/powerpoint/2010/main" val="3390559959"/>
      </p:ext>
    </p:extLst>
  </p:cSld>
  <p:clrMapOvr>
    <a:masterClrMapping/>
  </p:clrMapOvr>
  <p:transition advTm="42389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602E-0E48-9901-C345-8D4FEFCA4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7D497-4989-5579-4C02-5C698DB3EF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7BB3C1-2B0F-BAFE-96F5-437A4E56FF43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Extreme Gender Bias in Vulnerability Selection</a:t>
            </a:r>
          </a:p>
        </p:txBody>
      </p:sp>
      <p:pic>
        <p:nvPicPr>
          <p:cNvPr id="3" name="Picture 2" descr="fig01_gender_bias.png">
            <a:extLst>
              <a:ext uri="{FF2B5EF4-FFF2-40B4-BE49-F238E27FC236}">
                <a16:creationId xmlns:a16="http://schemas.microsoft.com/office/drawing/2014/main" id="{178EF08E-51AD-8F52-91E4-2F2D60EA7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9144000" cy="384048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A35C8C0F-CA51-3908-6603-E704A4117B4D}"/>
              </a:ext>
            </a:extLst>
          </p:cNvPr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43B"/>
                </a:solidFill>
              </a:defRPr>
            </a:pPr>
            <a:r>
              <a:t>Chi-Square: χ² = 130.34,  p &lt; 0.001  |  Non-binary: 69.3%  vs  Expected: 33.3%</a:t>
            </a:r>
          </a:p>
        </p:txBody>
      </p:sp>
    </p:spTree>
    <p:extLst>
      <p:ext uri="{BB962C8B-B14F-4D97-AF65-F5344CB8AC3E}">
        <p14:creationId xmlns:p14="http://schemas.microsoft.com/office/powerpoint/2010/main" val="3156185528"/>
      </p:ext>
    </p:extLst>
  </p:cSld>
  <p:clrMapOvr>
    <a:masterClrMapping/>
  </p:clrMapOvr>
  <p:transition advTm="42389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054DA7-F79F-74E4-2B10-FE0858914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D1FD0-D85B-CABA-FB46-0CA5A83BB5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94AD07-B7F3-E40F-7AAC-F3B93974A43F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Younger Personas Consistently Selected as Vulnerable</a:t>
            </a:r>
          </a:p>
        </p:txBody>
      </p:sp>
      <p:pic>
        <p:nvPicPr>
          <p:cNvPr id="3" name="Picture 2" descr="fig02_age_bias.png">
            <a:extLst>
              <a:ext uri="{FF2B5EF4-FFF2-40B4-BE49-F238E27FC236}">
                <a16:creationId xmlns:a16="http://schemas.microsoft.com/office/drawing/2014/main" id="{7F7C2DF1-F918-6225-AF85-9E4024625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9144000" cy="384048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9E34B174-EA41-9383-82E7-6B3F3F55B6D3}"/>
              </a:ext>
            </a:extLst>
          </p:cNvPr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43B"/>
                </a:solidFill>
              </a:defRPr>
            </a:pPr>
            <a:r>
              <a:t>t = -7.22,  p &lt; 0.001,  Cohen's d = -0.55 (medium effect)  |  28.7 vs 34.4 years</a:t>
            </a:r>
          </a:p>
        </p:txBody>
      </p:sp>
    </p:spTree>
    <p:extLst>
      <p:ext uri="{BB962C8B-B14F-4D97-AF65-F5344CB8AC3E}">
        <p14:creationId xmlns:p14="http://schemas.microsoft.com/office/powerpoint/2010/main" val="2602669690"/>
      </p:ext>
    </p:extLst>
  </p:cSld>
  <p:clrMapOvr>
    <a:masterClrMapping/>
  </p:clrMapOvr>
  <p:transition advTm="42389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EE27A-9D93-F125-B4A9-9187AEDF2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E5B6-0A0C-F4D4-B1F0-74B8B226D14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0D8019-E8CE-3D84-733D-5FE7CD708696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Bias is Model-Dependent, Not Universal</a:t>
            </a:r>
          </a:p>
        </p:txBody>
      </p:sp>
      <p:pic>
        <p:nvPicPr>
          <p:cNvPr id="3" name="Picture 2" descr="fig06_cross_model.png">
            <a:extLst>
              <a:ext uri="{FF2B5EF4-FFF2-40B4-BE49-F238E27FC236}">
                <a16:creationId xmlns:a16="http://schemas.microsoft.com/office/drawing/2014/main" id="{FEC93EC9-4871-CE67-C4F2-587884866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10972800" cy="3840480"/>
          </a:xfrm>
          <a:prstGeom prst="rect">
            <a:avLst/>
          </a:prstGeom>
        </p:spPr>
      </p:pic>
      <p:sp>
        <p:nvSpPr>
          <p:cNvPr id="5" name="TextBox 3">
            <a:extLst>
              <a:ext uri="{FF2B5EF4-FFF2-40B4-BE49-F238E27FC236}">
                <a16:creationId xmlns:a16="http://schemas.microsoft.com/office/drawing/2014/main" id="{98E8EC4C-DD67-5426-0C78-A3CBB5654FB1}"/>
              </a:ext>
            </a:extLst>
          </p:cNvPr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D43B"/>
                </a:solidFill>
              </a:defRPr>
            </a:pPr>
            <a:r>
              <a:t>Gemma → always female  |  Llama 4 Scout → always NB  |  Ministral → mostly male</a:t>
            </a:r>
          </a:p>
        </p:txBody>
      </p:sp>
    </p:spTree>
    <p:extLst>
      <p:ext uri="{BB962C8B-B14F-4D97-AF65-F5344CB8AC3E}">
        <p14:creationId xmlns:p14="http://schemas.microsoft.com/office/powerpoint/2010/main" val="3375671953"/>
      </p:ext>
    </p:extLst>
  </p:cSld>
  <p:clrMapOvr>
    <a:masterClrMapping/>
  </p:clrMapOvr>
  <p:transition advTm="42389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F76F1-1A73-6C8E-5B58-D7CD31CB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2809BF-7DBA-DFA1-60E2-E93418001B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4AAA9B-D8B0-5D7F-0195-B321F59FFA18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Bias is Implicit, Not Linguistic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EC079A-3E57-6236-B4A9-1CB905CD1BE7}"/>
              </a:ext>
            </a:extLst>
          </p:cNvPr>
          <p:cNvSpPr txBox="1"/>
          <p:nvPr/>
        </p:nvSpPr>
        <p:spPr>
          <a:xfrm>
            <a:off x="1828800" y="1452632"/>
            <a:ext cx="82296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51CF66"/>
                </a:solidFill>
              </a:defRPr>
            </a:pPr>
            <a:r>
              <a:rPr sz="6000" dirty="0"/>
              <a:t>Toxicity ≈ 0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43D521-4946-CBA3-71A7-B7B0154BD5DC}"/>
              </a:ext>
            </a:extLst>
          </p:cNvPr>
          <p:cNvSpPr txBox="1"/>
          <p:nvPr/>
        </p:nvSpPr>
        <p:spPr>
          <a:xfrm>
            <a:off x="1284195" y="2636888"/>
            <a:ext cx="10233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 sz="2800" dirty="0"/>
              <a:t>Models use no toxic language — yet bias is statistically overwhelming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8C4456E-AD43-1BD0-8EF0-CEEEC96E6845}"/>
              </a:ext>
            </a:extLst>
          </p:cNvPr>
          <p:cNvSpPr txBox="1"/>
          <p:nvPr/>
        </p:nvSpPr>
        <p:spPr>
          <a:xfrm>
            <a:off x="1828800" y="3464312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B6B"/>
                </a:solidFill>
              </a:defRPr>
            </a:pPr>
            <a:r>
              <a:rPr sz="3600" dirty="0"/>
              <a:t>Gender never mentioned in reasoning</a:t>
            </a:r>
          </a:p>
        </p:txBody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98ECE27-1FC7-0BC6-C9E7-8EAA5715ECBE}"/>
              </a:ext>
            </a:extLst>
          </p:cNvPr>
          <p:cNvSpPr txBox="1"/>
          <p:nvPr/>
        </p:nvSpPr>
        <p:spPr>
          <a:xfrm>
            <a:off x="1828800" y="4195832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 sz="2800"/>
              <a:t>Yet it is the strongest statistical predictor (χ² = 130.34)</a:t>
            </a: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E92C9447-7D0E-2408-4B82-C6EC88260CC7}"/>
              </a:ext>
            </a:extLst>
          </p:cNvPr>
          <p:cNvSpPr txBox="1"/>
          <p:nvPr/>
        </p:nvSpPr>
        <p:spPr>
          <a:xfrm>
            <a:off x="979394" y="4961965"/>
            <a:ext cx="102332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</a:defRPr>
            </a:pPr>
            <a:r>
              <a:rPr sz="2400" dirty="0"/>
              <a:t>Bias operates through correlated attributes (personality → gender → selection)</a:t>
            </a:r>
          </a:p>
        </p:txBody>
      </p:sp>
    </p:spTree>
    <p:extLst>
      <p:ext uri="{BB962C8B-B14F-4D97-AF65-F5344CB8AC3E}">
        <p14:creationId xmlns:p14="http://schemas.microsoft.com/office/powerpoint/2010/main" val="72427872"/>
      </p:ext>
    </p:extLst>
  </p:cSld>
  <p:clrMapOvr>
    <a:masterClrMapping/>
  </p:clrMapOvr>
  <p:transition advTm="42389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6BED-1234-338A-DEEE-7ABAB60F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84103-91E1-7B83-BFD6-2F6847FD4F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7EBA22-9BCA-AECF-1AEC-710A850C730D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Alternative Explanations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8964EF6-35D9-7BB4-8BFC-7335453C3391}"/>
              </a:ext>
            </a:extLst>
          </p:cNvPr>
          <p:cNvSpPr txBox="1"/>
          <p:nvPr/>
        </p:nvSpPr>
        <p:spPr>
          <a:xfrm>
            <a:off x="1508760" y="1488633"/>
            <a:ext cx="9144000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2400" b="1">
                <a:solidFill>
                  <a:srgbClr val="FFD43B"/>
                </a:solidFill>
              </a:defRPr>
            </a:pPr>
            <a:r>
              <a:rPr sz="2800" dirty="0"/>
              <a:t>Persona Generation Bias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000" dirty="0"/>
              <a:t>Prompt 1 may assign stereotypical traits to certain genders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900" dirty="0"/>
          </a:p>
          <a:p>
            <a:pPr>
              <a:spcBef>
                <a:spcPts val="600"/>
              </a:spcBef>
              <a:defRPr sz="2400" b="1">
                <a:solidFill>
                  <a:srgbClr val="FFD43B"/>
                </a:solidFill>
              </a:defRPr>
            </a:pPr>
            <a:r>
              <a:rPr sz="2800" dirty="0"/>
              <a:t>Learned Correlation vs Pure Stereotype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000" dirty="0"/>
              <a:t>Some patterns align with research — but 100% rates go far beyond evidence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900" dirty="0"/>
          </a:p>
          <a:p>
            <a:pPr>
              <a:spcBef>
                <a:spcPts val="600"/>
              </a:spcBef>
              <a:defRPr sz="2400" b="1">
                <a:solidFill>
                  <a:srgbClr val="FFD43B"/>
                </a:solidFill>
              </a:defRPr>
            </a:pPr>
            <a:r>
              <a:rPr sz="2800" dirty="0"/>
              <a:t>Prompt Wording Priming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000" dirty="0"/>
              <a:t>Known issue in LLM evaluation (Wang et al., 2023)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900" dirty="0"/>
          </a:p>
          <a:p>
            <a:pPr>
              <a:spcBef>
                <a:spcPts val="600"/>
              </a:spcBef>
              <a:defRPr sz="2400" b="1">
                <a:solidFill>
                  <a:srgbClr val="FFD43B"/>
                </a:solidFill>
              </a:defRPr>
            </a:pPr>
            <a:r>
              <a:rPr sz="2800" dirty="0"/>
              <a:t>Model Alignment Artefact</a:t>
            </a:r>
          </a:p>
          <a:p>
            <a:pPr>
              <a:spcBef>
                <a:spcPts val="600"/>
              </a:spcBef>
              <a:defRPr sz="1800" b="0">
                <a:solidFill>
                  <a:srgbClr val="AAAAAA"/>
                </a:solidFill>
              </a:defRPr>
            </a:pPr>
            <a:r>
              <a:rPr sz="2000" dirty="0"/>
              <a:t>RLHF / safety training may create unexpected bias patterns</a:t>
            </a:r>
          </a:p>
        </p:txBody>
      </p:sp>
    </p:spTree>
    <p:extLst>
      <p:ext uri="{BB962C8B-B14F-4D97-AF65-F5344CB8AC3E}">
        <p14:creationId xmlns:p14="http://schemas.microsoft.com/office/powerpoint/2010/main" val="911821019"/>
      </p:ext>
    </p:extLst>
  </p:cSld>
  <p:clrMapOvr>
    <a:masterClrMapping/>
  </p:clrMapOvr>
  <p:transition advTm="42389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2EC37-E383-22B9-92A0-D021CCCAF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98C87-76BB-A53F-55A2-4EF6133E594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DAFC9CC-EAF1-6147-9D8E-382CC0E67FF1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329ED7-CF18-E03F-2FF4-5689725765B2}"/>
              </a:ext>
            </a:extLst>
          </p:cNvPr>
          <p:cNvSpPr txBox="1"/>
          <p:nvPr/>
        </p:nvSpPr>
        <p:spPr>
          <a:xfrm>
            <a:off x="731520" y="3657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44612-D13F-2495-12C1-165DB4C99571}"/>
              </a:ext>
            </a:extLst>
          </p:cNvPr>
          <p:cNvSpPr txBox="1"/>
          <p:nvPr/>
        </p:nvSpPr>
        <p:spPr>
          <a:xfrm>
            <a:off x="1371600" y="1371600"/>
            <a:ext cx="914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D2FF"/>
                </a:solidFill>
              </a:defRPr>
            </a:pPr>
            <a:r>
              <a:rPr sz="3600" dirty="0"/>
              <a:t>LLM bias in phishing assessment is real,</a:t>
            </a:r>
            <a:br>
              <a:rPr sz="3600" dirty="0"/>
            </a:br>
            <a:r>
              <a:rPr sz="3600" dirty="0"/>
              <a:t>implicit, and model-dependent.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A40C07B-195E-7343-4BA6-0B0FC7F8BFAD}"/>
              </a:ext>
            </a:extLst>
          </p:cNvPr>
          <p:cNvSpPr txBox="1"/>
          <p:nvPr/>
        </p:nvSpPr>
        <p:spPr>
          <a:xfrm>
            <a:off x="1425388" y="2655093"/>
            <a:ext cx="9144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endParaRPr sz="2400" dirty="0"/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</a:defRPr>
            </a:pPr>
            <a:r>
              <a:rPr sz="2400" dirty="0"/>
              <a:t>Gender: χ² = 130.34 (p &lt; 0.001)</a:t>
            </a:r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</a:defRPr>
            </a:pPr>
            <a:r>
              <a:rPr sz="2400" dirty="0"/>
              <a:t>Age: t = -7.22, d = -0.55</a:t>
            </a:r>
          </a:p>
          <a:p>
            <a:pPr>
              <a:spcBef>
                <a:spcPts val="600"/>
              </a:spcBef>
              <a:defRPr sz="2200" b="0">
                <a:solidFill>
                  <a:srgbClr val="FFFFFF"/>
                </a:solidFill>
              </a:defRPr>
            </a:pPr>
            <a:r>
              <a:rPr sz="2400" dirty="0"/>
              <a:t>Education, experience, location, occupation — all significant</a:t>
            </a:r>
          </a:p>
          <a:p>
            <a:pPr>
              <a:spcBef>
                <a:spcPts val="600"/>
              </a:spcBef>
              <a:defRPr sz="800" b="0">
                <a:solidFill>
                  <a:srgbClr val="1A1A2E"/>
                </a:solidFill>
              </a:defRPr>
            </a:pPr>
            <a:endParaRPr sz="900" dirty="0"/>
          </a:p>
          <a:p>
            <a:pPr>
              <a:spcBef>
                <a:spcPts val="600"/>
              </a:spcBef>
              <a:defRPr sz="2200" b="1">
                <a:solidFill>
                  <a:srgbClr val="FFD43B"/>
                </a:solidFill>
              </a:defRPr>
            </a:pPr>
            <a:r>
              <a:rPr sz="2400" dirty="0"/>
              <a:t>Recommendation: bias auditing before any security deployment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38EE42BF-11BD-EA37-AE96-B17474BB9B7B}"/>
              </a:ext>
            </a:extLst>
          </p:cNvPr>
          <p:cNvSpPr txBox="1"/>
          <p:nvPr/>
        </p:nvSpPr>
        <p:spPr>
          <a:xfrm>
            <a:off x="968188" y="5317123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</a:defRPr>
            </a:pPr>
            <a:r>
              <a:rPr dirty="0"/>
              <a:t>855 personas  |  14 models  |  5 providers  |  Open-source &amp; reproducible</a:t>
            </a:r>
          </a:p>
        </p:txBody>
      </p:sp>
    </p:spTree>
    <p:extLst>
      <p:ext uri="{BB962C8B-B14F-4D97-AF65-F5344CB8AC3E}">
        <p14:creationId xmlns:p14="http://schemas.microsoft.com/office/powerpoint/2010/main" val="2837021249"/>
      </p:ext>
    </p:extLst>
  </p:cSld>
  <p:clrMapOvr>
    <a:masterClrMapping/>
  </p:clrMapOvr>
  <p:transition advTm="42389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534</Words>
  <Application>Microsoft Office PowerPoint</Application>
  <PresentationFormat>寬螢幕</PresentationFormat>
  <Paragraphs>115</Paragraphs>
  <Slides>12</Slides>
  <Notes>12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Georgia</vt:lpstr>
      <vt:lpstr>Office Theme</vt:lpstr>
      <vt:lpstr>Evaluating Demographic Bias in Open-Source LLMs for Phishing Susceptibility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Julia Tseng</cp:lastModifiedBy>
  <cp:revision>2</cp:revision>
  <dcterms:created xsi:type="dcterms:W3CDTF">2013-01-27T09:14:16Z</dcterms:created>
  <dcterms:modified xsi:type="dcterms:W3CDTF">2026-04-13T06:04:15Z</dcterms:modified>
  <cp:category/>
</cp:coreProperties>
</file>